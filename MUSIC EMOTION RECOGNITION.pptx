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1" r:id="rId6"/>
    <p:sldId id="258" r:id="rId7"/>
    <p:sldId id="267" r:id="rId8"/>
    <p:sldId id="268" r:id="rId9"/>
    <p:sldId id="263" r:id="rId10"/>
    <p:sldId id="264" r:id="rId11"/>
    <p:sldId id="266" r:id="rId12"/>
    <p:sldId id="272" r:id="rId13"/>
    <p:sldId id="271" r:id="rId14"/>
    <p:sldId id="273" r:id="rId15"/>
    <p:sldId id="274" r:id="rId16"/>
    <p:sldId id="260" r:id="rId17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0" autoAdjust="0"/>
    <p:restoredTop sz="94648" autoAdjust="0"/>
  </p:normalViewPr>
  <p:slideViewPr>
    <p:cSldViewPr snapToGrid="0">
      <p:cViewPr varScale="1">
        <p:scale>
          <a:sx n="87" d="100"/>
          <a:sy n="87" d="100"/>
        </p:scale>
        <p:origin x="2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9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4CCDE7A-CCB0-4254-A938-021FE5E68C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BBE8809-D314-459F-9468-4074EF195C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53C4C-502E-464F-BAA8-27DBB71A0B9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57FA047-E051-4289-A85E-B2C015C5B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659A542-EC1B-4AD0-9F48-45B95ED926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6DAC5-7919-4EFE-B589-B197185C6EB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41929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6E82B-0561-4374-A755-5D7F376F3791}" type="datetimeFigureOut">
              <a:rPr lang="it-IT" noProof="0" smtClean="0"/>
              <a:t>26/01/2026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Modifica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7C824-2132-4BB7-8F95-0CAE4412AE81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438639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7C824-2132-4BB7-8F95-0CAE4412AE81}" type="slidenum">
              <a:rPr lang="it-IT" noProof="0" smtClean="0"/>
              <a:t>3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8658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7C824-2132-4BB7-8F95-0CAE4412AE8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852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7C824-2132-4BB7-8F95-0CAE4412AE81}" type="slidenum">
              <a:rPr lang="it-IT" noProof="0" smtClean="0"/>
              <a:t>13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0867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smtClean="0"/>
              <a:t>Fare clic per modificare lo stile del sottotitolo dello schema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9B43E50-D8C0-4AB8-B692-D33F8FB1039E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DAF5D6-3432-4737-940E-FCB92BD69F81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/>
              <a:t>Modificare gli stili del testo dello schema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460E87A-404B-43E1-8A8D-30D2BCF7A226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C6B7B6-6BDC-4A28-8E73-1A61448F0380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D3F342-B5CF-4467-B9DB-4E2655A2B423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8DD4B2-C3E2-48E8-85F3-188260B629C0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3F823-4EEB-4AE7-8B22-3110E500D1B4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7145F33-5E4E-49B7-BF39-AB2289E91211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it-IT" smtClean="0"/>
              <a:t>Fare clic sull'icona per inserire un'immagine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8C4A86-2147-43A1-9110-C8F45FAA8631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BDA436-B640-45F7-8025-0249A8DF7542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23FC634-5A25-4169-AAD1-658470F5C9F9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/>
              <a:t>Modifica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9F3A7810-D3C5-4121-96C0-0361F9B18797}" type="datetime1">
              <a:rPr lang="it-IT" smtClean="0"/>
              <a:t>26/01/2026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it-IT" dirty="0" smtClean="0">
                <a:solidFill>
                  <a:schemeClr val="bg1"/>
                </a:solidFill>
              </a:rPr>
              <a:t>MUSIC EMOTION RECOGNITION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it-IT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tangolo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it-IT" dirty="0" smtClean="0">
                <a:solidFill>
                  <a:srgbClr val="FFFEFF"/>
                </a:solidFill>
              </a:rPr>
              <a:t>introduzione</a:t>
            </a:r>
            <a:endParaRPr lang="it-IT" dirty="0">
              <a:solidFill>
                <a:srgbClr val="FFFEFF"/>
              </a:solidFill>
            </a:endParaRPr>
          </a:p>
        </p:txBody>
      </p:sp>
      <p:sp>
        <p:nvSpPr>
          <p:cNvPr id="9" name="Segnaposto contenuto 8"/>
          <p:cNvSpPr>
            <a:spLocks noGrp="1"/>
          </p:cNvSpPr>
          <p:nvPr>
            <p:ph idx="1"/>
          </p:nvPr>
        </p:nvSpPr>
        <p:spPr>
          <a:xfrm>
            <a:off x="447817" y="1945619"/>
            <a:ext cx="11029615" cy="3678303"/>
          </a:xfrm>
        </p:spPr>
        <p:txBody>
          <a:bodyPr/>
          <a:lstStyle/>
          <a:p>
            <a:pPr algn="just"/>
            <a:r>
              <a:rPr lang="it-IT" b="1" dirty="0" smtClean="0"/>
              <a:t>Obiettivo: </a:t>
            </a:r>
            <a:r>
              <a:rPr lang="it-IT" dirty="0"/>
              <a:t>progettazione di un sistema in grado di interpretare autonomamente il contenuto emotivo di un brano </a:t>
            </a:r>
            <a:r>
              <a:rPr lang="it-IT" dirty="0" smtClean="0"/>
              <a:t>musicale mediante l’utilizzo di rappresentazioni tempo-frequenza e reti neurali </a:t>
            </a:r>
            <a:r>
              <a:rPr lang="it-IT" dirty="0" err="1" smtClean="0"/>
              <a:t>convoluzionali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 smtClean="0"/>
              <a:t>Motivazioni: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 smtClean="0"/>
              <a:t>Superamento del Gap tra il segnale audio grezzo e la percezione emotiva umana;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 smtClean="0"/>
              <a:t>Sfruttare il </a:t>
            </a:r>
            <a:r>
              <a:rPr lang="it-IT" dirty="0" err="1" smtClean="0"/>
              <a:t>Deep</a:t>
            </a:r>
            <a:r>
              <a:rPr lang="it-IT" dirty="0" smtClean="0"/>
              <a:t> Learning e le rappresentazioni tempo-frequenza per identificare pattern acustici complessi;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 smtClean="0"/>
              <a:t>Mitigare la natura soggettiva dell’emozione musicale adottando il Modello </a:t>
            </a:r>
            <a:r>
              <a:rPr lang="it-IT" dirty="0" err="1" smtClean="0"/>
              <a:t>Circomplesso</a:t>
            </a:r>
            <a:r>
              <a:rPr lang="it-IT" dirty="0" smtClean="0"/>
              <a:t> di Russell;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 smtClean="0"/>
              <a:t>Utilizzare i Mel-</a:t>
            </a:r>
            <a:r>
              <a:rPr lang="it-IT" dirty="0" err="1" smtClean="0"/>
              <a:t>spectrogrammi</a:t>
            </a:r>
            <a:r>
              <a:rPr lang="it-IT" dirty="0" smtClean="0"/>
              <a:t> e MFCC per trasformare l’audio in strutture analizzabili da reti </a:t>
            </a:r>
            <a:r>
              <a:rPr lang="it-IT" dirty="0" err="1" smtClean="0"/>
              <a:t>convoluzionali</a:t>
            </a:r>
            <a:r>
              <a:rPr lang="it-IT" dirty="0" smtClean="0"/>
              <a:t>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/>
              <a:t>Indagare la capacità di adattamento di modelli nati per la Computer Vision (VGG16</a:t>
            </a:r>
            <a:r>
              <a:rPr lang="it-IT" dirty="0" smtClean="0"/>
              <a:t>);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 smtClean="0"/>
              <a:t>Testare </a:t>
            </a:r>
            <a:r>
              <a:rPr lang="it-IT" dirty="0"/>
              <a:t>la robustezza del sistema attraverso brani acquisiti direttamente da </a:t>
            </a:r>
            <a:r>
              <a:rPr lang="it-IT" dirty="0" err="1" smtClean="0"/>
              <a:t>YouTube</a:t>
            </a:r>
            <a:r>
              <a:rPr lang="it-IT" dirty="0" smtClean="0"/>
              <a:t>;</a:t>
            </a:r>
            <a:endParaRPr lang="it-IT" dirty="0"/>
          </a:p>
          <a:p>
            <a:pPr marL="342900" indent="-342900" algn="just">
              <a:buFont typeface="+mj-lt"/>
              <a:buAutoNum type="arabicPeriod"/>
            </a:pPr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 smtClean="0"/>
              <a:t>DATASET e modello di </a:t>
            </a:r>
            <a:r>
              <a:rPr lang="it-IT" dirty="0" err="1" smtClean="0"/>
              <a:t>russell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pPr algn="just"/>
            <a:r>
              <a:rPr lang="it-IT" b="1" dirty="0" err="1" smtClean="0"/>
              <a:t>Dataset</a:t>
            </a:r>
            <a:r>
              <a:rPr lang="it-IT" b="1" dirty="0" smtClean="0"/>
              <a:t> DEAM: </a:t>
            </a:r>
            <a:r>
              <a:rPr lang="it-IT" dirty="0" smtClean="0"/>
              <a:t>Database for </a:t>
            </a:r>
            <a:r>
              <a:rPr lang="it-IT" dirty="0" err="1" smtClean="0"/>
              <a:t>Emotional</a:t>
            </a:r>
            <a:r>
              <a:rPr lang="it-IT" dirty="0" smtClean="0"/>
              <a:t> Analysis in Music.</a:t>
            </a:r>
          </a:p>
          <a:p>
            <a:r>
              <a:rPr lang="it-IT" b="1" dirty="0" smtClean="0"/>
              <a:t>Modello di Russell: </a:t>
            </a:r>
            <a:r>
              <a:rPr lang="it-IT" dirty="0" smtClean="0"/>
              <a:t>rappresentazione bidimensionale delle emozioni: Valence(</a:t>
            </a:r>
            <a:r>
              <a:rPr lang="it-IT" dirty="0" err="1" smtClean="0"/>
              <a:t>postività</a:t>
            </a:r>
            <a:r>
              <a:rPr lang="it-IT" dirty="0" smtClean="0"/>
              <a:t>/negatività) e </a:t>
            </a:r>
            <a:r>
              <a:rPr lang="it-IT" dirty="0" err="1" smtClean="0"/>
              <a:t>Arousal</a:t>
            </a:r>
            <a:r>
              <a:rPr lang="it-IT" dirty="0" smtClean="0"/>
              <a:t>(intensità energetica).</a:t>
            </a:r>
          </a:p>
          <a:p>
            <a:pPr algn="just"/>
            <a:r>
              <a:rPr lang="it-IT" b="1" dirty="0"/>
              <a:t>Discretizzazione: </a:t>
            </a:r>
            <a:r>
              <a:rPr lang="it-IT" dirty="0"/>
              <a:t>trasformazione dei valori continui di </a:t>
            </a:r>
            <a:r>
              <a:rPr lang="it-IT" dirty="0" err="1"/>
              <a:t>Arousal</a:t>
            </a:r>
            <a:r>
              <a:rPr lang="it-IT" dirty="0"/>
              <a:t> e Valence in etichette basate sui percentili (33,33° e 66,66°).</a:t>
            </a:r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992" y="2227263"/>
            <a:ext cx="5353065" cy="3633787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 smtClean="0"/>
              <a:t>LIMITI DEL DATASET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008196"/>
            <a:ext cx="5422390" cy="3633047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just"/>
            <a:r>
              <a:rPr lang="it-IT" b="1" dirty="0"/>
              <a:t>Distribuzione </a:t>
            </a:r>
            <a:r>
              <a:rPr lang="it-IT" b="1" dirty="0" smtClean="0"/>
              <a:t>Gaussiana</a:t>
            </a:r>
            <a:r>
              <a:rPr lang="it-IT" dirty="0" smtClean="0"/>
              <a:t>: </a:t>
            </a:r>
            <a:r>
              <a:rPr lang="it-IT" dirty="0"/>
              <a:t>gli istogrammi di Valence e </a:t>
            </a:r>
            <a:r>
              <a:rPr lang="it-IT" dirty="0" err="1"/>
              <a:t>Arousal</a:t>
            </a:r>
            <a:r>
              <a:rPr lang="it-IT" dirty="0"/>
              <a:t> mostrano una concentrazione predominante nella zona </a:t>
            </a:r>
            <a:r>
              <a:rPr lang="it-IT" dirty="0" smtClean="0"/>
              <a:t>centrale(valori tra 4 e 6).</a:t>
            </a:r>
          </a:p>
          <a:p>
            <a:pPr algn="just"/>
            <a:r>
              <a:rPr lang="it-IT" b="1" dirty="0" smtClean="0"/>
              <a:t>Neutralità prevalente</a:t>
            </a:r>
            <a:r>
              <a:rPr lang="it-IT" dirty="0"/>
              <a:t>: la maggior parte dei brani del </a:t>
            </a:r>
            <a:r>
              <a:rPr lang="it-IT" dirty="0" err="1"/>
              <a:t>dataset</a:t>
            </a:r>
            <a:r>
              <a:rPr lang="it-IT" dirty="0"/>
              <a:t> DEAM presenta un contenuto emotivo neutro o moderato, come evidenziato dai picchi di frequenza al centro della campana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 smtClean="0"/>
              <a:t>Eliminazione della fascia Mid: </a:t>
            </a:r>
            <a:r>
              <a:rPr lang="it-IT" dirty="0"/>
              <a:t>per ridurre l’ambiguità emotiva dei campioni e migliorare la precisione della CNN, è stata rimossa strategicamente la fascia intermedia (</a:t>
            </a:r>
            <a:r>
              <a:rPr lang="it-IT" dirty="0" err="1"/>
              <a:t>Neutral</a:t>
            </a:r>
            <a:r>
              <a:rPr lang="it-IT" dirty="0" smtClean="0"/>
              <a:t>).</a:t>
            </a:r>
          </a:p>
        </p:txBody>
      </p:sp>
      <p:pic>
        <p:nvPicPr>
          <p:cNvPr id="7" name="Segnaposto contenuto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008" y="2247334"/>
            <a:ext cx="5764448" cy="3137465"/>
          </a:xfrm>
          <a:ln>
            <a:solidFill>
              <a:schemeClr val="accent1"/>
            </a:solidFill>
          </a:ln>
        </p:spPr>
      </p:pic>
      <p:sp>
        <p:nvSpPr>
          <p:cNvPr id="9" name="CasellaDiTesto 8"/>
          <p:cNvSpPr txBox="1"/>
          <p:nvPr/>
        </p:nvSpPr>
        <p:spPr>
          <a:xfrm>
            <a:off x="2921245" y="5852597"/>
            <a:ext cx="6349511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i="1" u="sng" dirty="0"/>
              <a:t>l'isolamento delle </a:t>
            </a:r>
            <a:r>
              <a:rPr lang="it-IT" i="1" u="sng" dirty="0" smtClean="0"/>
              <a:t>code </a:t>
            </a:r>
            <a:r>
              <a:rPr lang="it-IT" i="1" u="sng" dirty="0"/>
              <a:t>della distribuzione ha generato un forte squilibrio numerico tra le classi.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671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STRATEGIA DI PREPROCESSING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it-IT" sz="1900" b="1" dirty="0"/>
              <a:t>Estrazione dei Mel-Spettrogrammi: </a:t>
            </a:r>
            <a:r>
              <a:rPr lang="it-IT" sz="1900" dirty="0"/>
              <a:t>trasformazione dei frammenti audio in rappresentazioni </a:t>
            </a:r>
            <a:r>
              <a:rPr lang="it-IT" sz="1900" dirty="0" smtClean="0"/>
              <a:t>tempo-frequenza </a:t>
            </a:r>
            <a:r>
              <a:rPr lang="it-IT" sz="1900" dirty="0"/>
              <a:t>per la CNN</a:t>
            </a:r>
            <a:r>
              <a:rPr lang="it-IT" sz="1900" dirty="0" smtClean="0"/>
              <a:t>.</a:t>
            </a:r>
            <a:endParaRPr lang="it-IT" sz="1900" b="1" dirty="0" smtClean="0"/>
          </a:p>
          <a:p>
            <a:pPr algn="just"/>
            <a:r>
              <a:rPr lang="it-IT" sz="1900" b="1" dirty="0" smtClean="0"/>
              <a:t>Standardizzazione </a:t>
            </a:r>
            <a:r>
              <a:rPr lang="it-IT" sz="1900" b="1" dirty="0"/>
              <a:t>audio: </a:t>
            </a:r>
            <a:r>
              <a:rPr lang="it-IT" sz="1900" dirty="0"/>
              <a:t>ogni traccia audio è stata caricata e standardizzata a una frequenza di campionamento pari a 22.050 Hz perché garantisce un buon compromesso tra qualità del segnale e complessità computazionale.</a:t>
            </a:r>
          </a:p>
          <a:p>
            <a:pPr algn="just"/>
            <a:r>
              <a:rPr lang="it-IT" sz="1900" b="1" dirty="0"/>
              <a:t>Segmentazione: </a:t>
            </a:r>
            <a:r>
              <a:rPr lang="it-IT" sz="1900" dirty="0"/>
              <a:t>suddivisione in frammenti da 5 secondi per evitare di apprendere sequenza troppo lunghe e complesse.</a:t>
            </a:r>
          </a:p>
          <a:p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it-IT" sz="1900" b="1" dirty="0" smtClean="0"/>
              <a:t>Codifica: </a:t>
            </a:r>
            <a:r>
              <a:rPr lang="it-IT" sz="1900" dirty="0"/>
              <a:t>applicazione di </a:t>
            </a:r>
            <a:r>
              <a:rPr lang="it-IT" sz="1900" dirty="0" err="1"/>
              <a:t>LabelEncoder</a:t>
            </a:r>
            <a:r>
              <a:rPr lang="it-IT" sz="1900" dirty="0"/>
              <a:t> e </a:t>
            </a:r>
            <a:r>
              <a:rPr lang="it-IT" sz="1900" dirty="0" err="1"/>
              <a:t>One</a:t>
            </a:r>
            <a:r>
              <a:rPr lang="it-IT" sz="1900" dirty="0"/>
              <a:t>-Hot </a:t>
            </a:r>
            <a:r>
              <a:rPr lang="it-IT" sz="1900" dirty="0" err="1"/>
              <a:t>Encoding</a:t>
            </a:r>
            <a:r>
              <a:rPr lang="it-IT" sz="1900" dirty="0"/>
              <a:t> per mappare i quattro target emotivi</a:t>
            </a:r>
            <a:r>
              <a:rPr lang="it-IT" sz="1900" dirty="0" smtClean="0"/>
              <a:t>.</a:t>
            </a:r>
            <a:endParaRPr lang="it-IT" altLang="it-IT" sz="1900" dirty="0" smtClean="0">
              <a:solidFill>
                <a:schemeClr val="tx1"/>
              </a:solidFill>
            </a:endParaRPr>
          </a:p>
          <a:p>
            <a:pPr algn="just"/>
            <a:r>
              <a:rPr lang="it-IT" sz="1900" b="1" dirty="0"/>
              <a:t>U</a:t>
            </a:r>
            <a:r>
              <a:rPr lang="it-IT" sz="1900" b="1" dirty="0" smtClean="0"/>
              <a:t>tilizzo del </a:t>
            </a:r>
            <a:r>
              <a:rPr lang="it-IT" sz="1900" b="1" dirty="0" err="1" smtClean="0"/>
              <a:t>GroupShuffleSplit</a:t>
            </a:r>
            <a:r>
              <a:rPr lang="it-IT" sz="1900" b="1" dirty="0" smtClean="0"/>
              <a:t>: </a:t>
            </a:r>
            <a:r>
              <a:rPr lang="it-IT" sz="1900" dirty="0" smtClean="0"/>
              <a:t>per prevenire il data </a:t>
            </a:r>
            <a:r>
              <a:rPr lang="it-IT" sz="1900" dirty="0" err="1" smtClean="0"/>
              <a:t>leakage</a:t>
            </a:r>
            <a:r>
              <a:rPr lang="it-IT" sz="1900" dirty="0" smtClean="0"/>
              <a:t>, partizionamento del </a:t>
            </a:r>
            <a:r>
              <a:rPr lang="it-IT" sz="1900" dirty="0" err="1" smtClean="0"/>
              <a:t>dataset</a:t>
            </a:r>
            <a:r>
              <a:rPr lang="it-IT" sz="1900" dirty="0" smtClean="0"/>
              <a:t> basato sull’ID della canzone.</a:t>
            </a:r>
            <a:endParaRPr lang="it-IT" altLang="it-IT" sz="1900" dirty="0" smtClean="0">
              <a:solidFill>
                <a:schemeClr val="tx1"/>
              </a:solidFill>
            </a:endParaRPr>
          </a:p>
          <a:p>
            <a:pPr algn="just"/>
            <a:r>
              <a:rPr lang="it-IT" sz="1900" b="1" dirty="0"/>
              <a:t>Gestione dello Sbilanciamento: </a:t>
            </a:r>
            <a:r>
              <a:rPr lang="it-IT" sz="1900" dirty="0"/>
              <a:t>utilizzo della funzione </a:t>
            </a:r>
            <a:r>
              <a:rPr lang="it-IT" sz="1900" dirty="0" err="1"/>
              <a:t>compute_class_weight</a:t>
            </a:r>
            <a:r>
              <a:rPr lang="it-IT" sz="1900" dirty="0"/>
              <a:t> per bilanciare la forte sproporzione tra le classi.</a:t>
            </a:r>
          </a:p>
          <a:p>
            <a:pPr algn="just"/>
            <a:endParaRPr lang="it-IT" altLang="it-IT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2202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ARCHITETTURE A CONFRONTO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CNN Custom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it-IT" b="1" dirty="0" smtClean="0"/>
              <a:t>Tre blocchi </a:t>
            </a:r>
            <a:r>
              <a:rPr lang="it-IT" b="1" dirty="0" err="1" smtClean="0"/>
              <a:t>convoluzionali</a:t>
            </a:r>
            <a:r>
              <a:rPr lang="it-IT" b="1" dirty="0" smtClean="0"/>
              <a:t>: </a:t>
            </a:r>
            <a:r>
              <a:rPr lang="it-IT" dirty="0" smtClean="0"/>
              <a:t>con 32, 64 e 128 filtri </a:t>
            </a:r>
            <a:r>
              <a:rPr lang="it-IT" dirty="0" err="1" smtClean="0"/>
              <a:t>convoluzionali</a:t>
            </a:r>
            <a:r>
              <a:rPr lang="it-IT" dirty="0" smtClean="0"/>
              <a:t> (3 x 3) seguiti da Batch </a:t>
            </a:r>
            <a:r>
              <a:rPr lang="it-IT" dirty="0" err="1" smtClean="0"/>
              <a:t>Normalization</a:t>
            </a:r>
            <a:r>
              <a:rPr lang="it-IT" dirty="0" smtClean="0"/>
              <a:t> e </a:t>
            </a:r>
            <a:r>
              <a:rPr lang="it-IT" dirty="0" err="1" smtClean="0"/>
              <a:t>MaxPooling</a:t>
            </a:r>
            <a:r>
              <a:rPr lang="it-IT" dirty="0" smtClean="0"/>
              <a:t> (2 x 2) per la riduzione della </a:t>
            </a:r>
            <a:r>
              <a:rPr lang="it-IT" dirty="0" err="1" smtClean="0"/>
              <a:t>dimensionalità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 err="1" smtClean="0"/>
              <a:t>Flatten</a:t>
            </a:r>
            <a:r>
              <a:rPr lang="it-IT" b="1" dirty="0" smtClean="0"/>
              <a:t> e Dense: </a:t>
            </a:r>
            <a:r>
              <a:rPr lang="it-IT" dirty="0" smtClean="0"/>
              <a:t>per trasformare le caratteristiche in un vettore per la decisione finale.</a:t>
            </a:r>
          </a:p>
          <a:p>
            <a:pPr algn="just"/>
            <a:r>
              <a:rPr lang="it-IT" b="1" dirty="0" err="1" smtClean="0"/>
              <a:t>Dropout</a:t>
            </a:r>
            <a:r>
              <a:rPr lang="it-IT" b="1" dirty="0" smtClean="0"/>
              <a:t>: </a:t>
            </a:r>
            <a:r>
              <a:rPr lang="it-IT" dirty="0" smtClean="0"/>
              <a:t>per prevenire l’</a:t>
            </a:r>
            <a:r>
              <a:rPr lang="it-IT" dirty="0" err="1" smtClean="0"/>
              <a:t>overfitting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 err="1"/>
              <a:t>S</a:t>
            </a:r>
            <a:r>
              <a:rPr lang="it-IT" b="1" dirty="0" err="1" smtClean="0"/>
              <a:t>oftmax</a:t>
            </a:r>
            <a:r>
              <a:rPr lang="it-IT" b="1" dirty="0" smtClean="0"/>
              <a:t>: </a:t>
            </a:r>
            <a:r>
              <a:rPr lang="it-IT" dirty="0" smtClean="0"/>
              <a:t>per la classificazione nelle categorie target.</a:t>
            </a:r>
            <a:endParaRPr lang="it-IT" dirty="0"/>
          </a:p>
          <a:p>
            <a:pPr algn="just"/>
            <a:endParaRPr lang="it-IT" dirty="0" smtClean="0"/>
          </a:p>
          <a:p>
            <a:endParaRPr lang="it-IT" b="1" dirty="0" smtClean="0"/>
          </a:p>
          <a:p>
            <a:endParaRPr lang="it-IT" b="1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 smtClean="0"/>
              <a:t>VGG16</a:t>
            </a:r>
            <a:endParaRPr lang="it-IT" dirty="0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just"/>
            <a:r>
              <a:rPr lang="it-IT" b="1" dirty="0" smtClean="0"/>
              <a:t>Modello base: </a:t>
            </a:r>
            <a:r>
              <a:rPr lang="it-IT" dirty="0" smtClean="0"/>
              <a:t>come estrattore di caratteristiche </a:t>
            </a:r>
            <a:r>
              <a:rPr lang="it-IT" dirty="0" err="1" smtClean="0"/>
              <a:t>pre</a:t>
            </a:r>
            <a:r>
              <a:rPr lang="it-IT" dirty="0" smtClean="0"/>
              <a:t>-addestrato.</a:t>
            </a:r>
          </a:p>
          <a:p>
            <a:pPr algn="just"/>
            <a:r>
              <a:rPr lang="it-IT" b="1" dirty="0" smtClean="0"/>
              <a:t>Head specifica: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b="1" dirty="0" smtClean="0"/>
              <a:t> </a:t>
            </a:r>
            <a:r>
              <a:rPr lang="it-IT" dirty="0" err="1" smtClean="0"/>
              <a:t>GlobalAveragePooling</a:t>
            </a:r>
            <a:r>
              <a:rPr lang="it-IT" dirty="0" smtClean="0"/>
              <a:t> per ridurre la complessità;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 smtClean="0"/>
              <a:t>Batch </a:t>
            </a:r>
            <a:r>
              <a:rPr lang="it-IT" dirty="0" err="1" smtClean="0"/>
              <a:t>Normalization</a:t>
            </a:r>
            <a:r>
              <a:rPr lang="it-IT" dirty="0"/>
              <a:t>;</a:t>
            </a:r>
            <a:endParaRPr lang="it-IT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it-IT" dirty="0" smtClean="0"/>
              <a:t>Dense e </a:t>
            </a:r>
            <a:r>
              <a:rPr lang="it-IT" dirty="0" err="1" smtClean="0"/>
              <a:t>Dropout</a:t>
            </a:r>
            <a:r>
              <a:rPr lang="it-IT" dirty="0" smtClean="0"/>
              <a:t>;</a:t>
            </a:r>
            <a:endParaRPr lang="it-IT" dirty="0"/>
          </a:p>
          <a:p>
            <a:pPr algn="just"/>
            <a:r>
              <a:rPr lang="it-IT" b="1" dirty="0" err="1" smtClean="0"/>
              <a:t>Softmax</a:t>
            </a:r>
            <a:r>
              <a:rPr lang="it-IT" dirty="0" smtClean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57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e prestazioni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CNN Custom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 smtClean="0"/>
              <a:t>VGG16</a:t>
            </a:r>
            <a:endParaRPr lang="it-IT" dirty="0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just"/>
            <a:r>
              <a:rPr lang="it-IT" b="1" dirty="0"/>
              <a:t>Accuratezza: </a:t>
            </a:r>
            <a:r>
              <a:rPr lang="it-IT" dirty="0" smtClean="0"/>
              <a:t>61%</a:t>
            </a:r>
            <a:endParaRPr lang="it-IT" dirty="0"/>
          </a:p>
          <a:p>
            <a:pPr algn="just"/>
            <a:r>
              <a:rPr lang="it-IT" b="1" dirty="0" smtClean="0"/>
              <a:t>Precision e </a:t>
            </a:r>
            <a:r>
              <a:rPr lang="it-IT" b="1" dirty="0" err="1" smtClean="0"/>
              <a:t>Recall</a:t>
            </a:r>
            <a:r>
              <a:rPr lang="it-IT" b="1" dirty="0" smtClean="0"/>
              <a:t>:</a:t>
            </a:r>
            <a:r>
              <a:rPr lang="it-IT" dirty="0" smtClean="0"/>
              <a:t> </a:t>
            </a:r>
            <a:r>
              <a:rPr lang="it-IT" dirty="0"/>
              <a:t>Elevata per </a:t>
            </a:r>
            <a:r>
              <a:rPr lang="it-IT" dirty="0" err="1"/>
              <a:t>Sad</a:t>
            </a:r>
            <a:r>
              <a:rPr lang="it-IT" dirty="0"/>
              <a:t> e Happy, </a:t>
            </a:r>
            <a:r>
              <a:rPr lang="it-IT" dirty="0" smtClean="0"/>
              <a:t>ma disastrosa per Angry/</a:t>
            </a:r>
            <a:r>
              <a:rPr lang="it-IT" dirty="0" err="1" smtClean="0"/>
              <a:t>Relaxed</a:t>
            </a:r>
            <a:endParaRPr lang="it-IT" dirty="0" smtClean="0"/>
          </a:p>
          <a:p>
            <a:pPr marL="0" indent="0" algn="ctr">
              <a:buNone/>
            </a:pPr>
            <a:r>
              <a:rPr lang="it-IT" u="sng" dirty="0" smtClean="0"/>
              <a:t>Il </a:t>
            </a:r>
            <a:r>
              <a:rPr lang="it-IT" u="sng" dirty="0"/>
              <a:t>modello ha evidenziato limiti significativi nell’adattamento al dominio audio, suggerendo che le caratteristiche estratte da </a:t>
            </a:r>
            <a:r>
              <a:rPr lang="it-IT" u="sng" dirty="0" err="1" smtClean="0"/>
              <a:t>Imagenet</a:t>
            </a:r>
            <a:r>
              <a:rPr lang="it-IT" u="sng" dirty="0" smtClean="0"/>
              <a:t> non </a:t>
            </a:r>
            <a:r>
              <a:rPr lang="it-IT" u="sng" dirty="0"/>
              <a:t>siano pienamente trasferibili al contesto del Music </a:t>
            </a:r>
            <a:r>
              <a:rPr lang="it-IT" u="sng" dirty="0" err="1"/>
              <a:t>Emotion</a:t>
            </a:r>
            <a:r>
              <a:rPr lang="it-IT" u="sng" dirty="0"/>
              <a:t> </a:t>
            </a:r>
            <a:r>
              <a:rPr lang="it-IT" u="sng" dirty="0" err="1"/>
              <a:t>Recognition</a:t>
            </a:r>
            <a:r>
              <a:rPr lang="it-IT" u="sng" dirty="0"/>
              <a:t> (MER).</a:t>
            </a:r>
            <a:endParaRPr lang="it-IT" u="sng" dirty="0" smtClean="0"/>
          </a:p>
        </p:txBody>
      </p:sp>
      <p:sp>
        <p:nvSpPr>
          <p:cNvPr id="8" name="Segnaposto contenuto 7"/>
          <p:cNvSpPr>
            <a:spLocks noGrp="1"/>
          </p:cNvSpPr>
          <p:nvPr>
            <p:ph sz="half" idx="2"/>
          </p:nvPr>
        </p:nvSpPr>
        <p:spPr>
          <a:xfrm>
            <a:off x="581193" y="2926052"/>
            <a:ext cx="5393100" cy="2934999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it-IT" b="1" dirty="0" smtClean="0"/>
              <a:t>Accuratezza: </a:t>
            </a:r>
            <a:r>
              <a:rPr lang="it-IT" dirty="0" smtClean="0"/>
              <a:t>74%</a:t>
            </a:r>
          </a:p>
          <a:p>
            <a:pPr algn="just"/>
            <a:r>
              <a:rPr lang="it-IT" b="1" dirty="0"/>
              <a:t>Precision:</a:t>
            </a:r>
            <a:r>
              <a:rPr lang="it-IT" dirty="0"/>
              <a:t> Elevata per </a:t>
            </a:r>
            <a:r>
              <a:rPr lang="it-IT" dirty="0" err="1"/>
              <a:t>Sad</a:t>
            </a:r>
            <a:r>
              <a:rPr lang="it-IT" dirty="0"/>
              <a:t> e Happy, indicando che quando il modello predice queste classi, è quasi sempre corretto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 err="1"/>
              <a:t>Recall</a:t>
            </a:r>
            <a:r>
              <a:rPr lang="it-IT" b="1" dirty="0"/>
              <a:t>:</a:t>
            </a:r>
            <a:r>
              <a:rPr lang="it-IT" dirty="0"/>
              <a:t> Più bassa per Angry/</a:t>
            </a:r>
            <a:r>
              <a:rPr lang="it-IT" dirty="0" err="1"/>
              <a:t>Relaxed</a:t>
            </a:r>
            <a:r>
              <a:rPr lang="it-IT" dirty="0"/>
              <a:t>, segno che il modello tende </a:t>
            </a:r>
            <a:r>
              <a:rPr lang="it-IT" dirty="0" smtClean="0"/>
              <a:t>a favorire le </a:t>
            </a:r>
            <a:r>
              <a:rPr lang="it-IT" dirty="0"/>
              <a:t>classi dominanti, nonostante l'uso dei Class </a:t>
            </a:r>
            <a:r>
              <a:rPr lang="it-IT" dirty="0" err="1"/>
              <a:t>Weights</a:t>
            </a:r>
            <a:r>
              <a:rPr lang="it-IT" dirty="0" smtClean="0"/>
              <a:t>.</a:t>
            </a:r>
          </a:p>
          <a:p>
            <a:pPr marL="0" indent="0" algn="ctr">
              <a:buNone/>
            </a:pPr>
            <a:r>
              <a:rPr lang="it-IT" u="sng" dirty="0"/>
              <a:t>Questo modello si è dimostrato particolarmente efficace nel catturare pattern spettrali e dinamiche temporali fondamentali per la discriminazione delle emozioni </a:t>
            </a:r>
            <a:r>
              <a:rPr lang="it-IT" u="sng" dirty="0" smtClean="0"/>
              <a:t>musicali.</a:t>
            </a:r>
          </a:p>
          <a:p>
            <a:pPr marL="0" indent="0" algn="ctr">
              <a:buNone/>
            </a:pPr>
            <a:r>
              <a:rPr lang="it-IT" u="sng" dirty="0"/>
              <a:t>Il modello basato su MFCC ha registrato un’accuratezza del 68%, confermandosi una descrizione compatta ed efficiente del contenuto spettrale. Tuttavia, il risultato è inferiore rispetto all’approccio con Mel-spettrogrammi a causa di una minore sensibilità alle dinamiche temporali complesse.</a:t>
            </a:r>
          </a:p>
        </p:txBody>
      </p:sp>
    </p:spTree>
    <p:extLst>
      <p:ext uri="{BB962C8B-B14F-4D97-AF65-F5344CB8AC3E}">
        <p14:creationId xmlns:p14="http://schemas.microsoft.com/office/powerpoint/2010/main" val="282932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Estensioni sperimentali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it-IT" b="1" dirty="0" smtClean="0"/>
              <a:t>Replicabilità: </a:t>
            </a:r>
            <a:r>
              <a:rPr lang="it-IT" dirty="0" smtClean="0"/>
              <a:t>implementazione </a:t>
            </a:r>
            <a:r>
              <a:rPr lang="it-IT" dirty="0"/>
              <a:t>del salvataggio del modello (</a:t>
            </a:r>
            <a:r>
              <a:rPr lang="it-IT" dirty="0" err="1"/>
              <a:t>model.save</a:t>
            </a:r>
            <a:r>
              <a:rPr lang="it-IT" dirty="0"/>
              <a:t>) per garantire la riproducibilità degli esperimenti senza ripetere il training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/>
              <a:t>Visualizzazione </a:t>
            </a:r>
            <a:r>
              <a:rPr lang="it-IT" b="1" dirty="0" smtClean="0"/>
              <a:t>interattiva</a:t>
            </a:r>
            <a:r>
              <a:rPr lang="it-IT" dirty="0" smtClean="0"/>
              <a:t>: tramite la </a:t>
            </a:r>
            <a:r>
              <a:rPr lang="it-IT" dirty="0" err="1" smtClean="0"/>
              <a:t>waveform</a:t>
            </a:r>
            <a:r>
              <a:rPr lang="it-IT" dirty="0" smtClean="0"/>
              <a:t> </a:t>
            </a:r>
            <a:r>
              <a:rPr lang="it-IT" dirty="0"/>
              <a:t>(forma d'onda) per monitorare ampiezza e dinamiche temporali, creando un collegamento visivo immediato tra ascolto e interpretazione della rete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/>
              <a:t>Analisi </a:t>
            </a:r>
            <a:r>
              <a:rPr lang="it-IT" b="1" dirty="0" smtClean="0"/>
              <a:t>diagnostica </a:t>
            </a:r>
            <a:r>
              <a:rPr lang="it-IT" b="1" dirty="0"/>
              <a:t>degli </a:t>
            </a:r>
            <a:r>
              <a:rPr lang="it-IT" b="1" dirty="0" smtClean="0"/>
              <a:t>errori</a:t>
            </a:r>
            <a:r>
              <a:rPr lang="it-IT" b="1" dirty="0"/>
              <a:t>: </a:t>
            </a:r>
            <a:r>
              <a:rPr lang="it-IT" dirty="0"/>
              <a:t>studio approfondito dei casi di errata classificazione (es. confusione tra </a:t>
            </a:r>
            <a:r>
              <a:rPr lang="it-IT" dirty="0" err="1"/>
              <a:t>Relaxed</a:t>
            </a:r>
            <a:r>
              <a:rPr lang="it-IT" dirty="0"/>
              <a:t> e Angry) per identificare limiti </a:t>
            </a:r>
            <a:r>
              <a:rPr lang="it-IT" dirty="0" smtClean="0"/>
              <a:t>strutturali.</a:t>
            </a:r>
          </a:p>
          <a:p>
            <a:pPr algn="just"/>
            <a:r>
              <a:rPr lang="it-IT" b="1" dirty="0" smtClean="0"/>
              <a:t>Integrazione API </a:t>
            </a:r>
            <a:r>
              <a:rPr lang="it-IT" b="1" dirty="0" err="1" smtClean="0"/>
              <a:t>YouTube</a:t>
            </a:r>
            <a:r>
              <a:rPr lang="it-IT" dirty="0"/>
              <a:t>: permette al sistema di attingere direttamente al catalogo musicale globale, svincolando l'analisi dai soli file locali e aumentando l'interattività.</a:t>
            </a:r>
          </a:p>
        </p:txBody>
      </p:sp>
    </p:spTree>
    <p:extLst>
      <p:ext uri="{BB962C8B-B14F-4D97-AF65-F5344CB8AC3E}">
        <p14:creationId xmlns:p14="http://schemas.microsoft.com/office/powerpoint/2010/main" val="35822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186155"/>
            <a:ext cx="11029616" cy="566738"/>
          </a:xfrm>
        </p:spPr>
        <p:txBody>
          <a:bodyPr/>
          <a:lstStyle/>
          <a:p>
            <a:r>
              <a:rPr lang="it-IT" dirty="0"/>
              <a:t>Visualizzazione </a:t>
            </a:r>
            <a:r>
              <a:rPr lang="it-IT" dirty="0" smtClean="0"/>
              <a:t>interattiva</a:t>
            </a:r>
            <a:endParaRPr lang="it-IT" dirty="0"/>
          </a:p>
        </p:txBody>
      </p:sp>
      <p:pic>
        <p:nvPicPr>
          <p:cNvPr id="5" name="Segnaposto immagine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6" r="11036"/>
          <a:stretch>
            <a:fillRect/>
          </a:stretch>
        </p:blipFill>
        <p:spPr>
          <a:xfrm>
            <a:off x="2522802" y="599725"/>
            <a:ext cx="6580219" cy="2073137"/>
          </a:xfrm>
          <a:ln>
            <a:solidFill>
              <a:schemeClr val="accent1"/>
            </a:solidFill>
          </a:ln>
        </p:spPr>
      </p:pic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1" y="5577755"/>
            <a:ext cx="11029617" cy="598671"/>
          </a:xfrm>
        </p:spPr>
        <p:txBody>
          <a:bodyPr/>
          <a:lstStyle/>
          <a:p>
            <a:endParaRPr lang="it-IT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801" y="2789010"/>
            <a:ext cx="6580219" cy="20731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2549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4976758"/>
            <a:ext cx="11029616" cy="566738"/>
          </a:xfrm>
        </p:spPr>
        <p:txBody>
          <a:bodyPr/>
          <a:lstStyle/>
          <a:p>
            <a:r>
              <a:rPr lang="it-IT" dirty="0"/>
              <a:t>Integrazione </a:t>
            </a:r>
            <a:r>
              <a:rPr lang="it-IT" dirty="0" smtClean="0"/>
              <a:t>API </a:t>
            </a:r>
            <a:r>
              <a:rPr lang="it-IT" dirty="0" err="1" smtClean="0"/>
              <a:t>YouTube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1" y="5631443"/>
            <a:ext cx="11029617" cy="980372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it-IT" sz="2300" dirty="0" smtClean="0"/>
              <a:t>“Happy</a:t>
            </a:r>
            <a:r>
              <a:rPr lang="it-IT" sz="2300" dirty="0"/>
              <a:t>” di </a:t>
            </a:r>
            <a:r>
              <a:rPr lang="it-IT" sz="2300" dirty="0" err="1"/>
              <a:t>Pharrell</a:t>
            </a:r>
            <a:r>
              <a:rPr lang="it-IT" sz="2300" dirty="0"/>
              <a:t> Williams: </a:t>
            </a:r>
            <a:r>
              <a:rPr lang="it-IT" sz="2300" dirty="0" smtClean="0"/>
              <a:t>Confidenza</a:t>
            </a:r>
            <a:r>
              <a:rPr lang="it-IT" sz="2300" dirty="0"/>
              <a:t>: 73.07 </a:t>
            </a:r>
            <a:r>
              <a:rPr lang="it-IT" sz="2300" dirty="0" smtClean="0"/>
              <a:t>%</a:t>
            </a:r>
          </a:p>
          <a:p>
            <a:pPr lvl="0"/>
            <a:r>
              <a:rPr lang="it-IT" sz="2300" dirty="0" smtClean="0"/>
              <a:t>“</a:t>
            </a:r>
            <a:r>
              <a:rPr lang="it-IT" sz="2300" dirty="0" err="1"/>
              <a:t>Someone</a:t>
            </a:r>
            <a:r>
              <a:rPr lang="it-IT" sz="2300" dirty="0"/>
              <a:t> Like </a:t>
            </a:r>
            <a:r>
              <a:rPr lang="it-IT" sz="2300" dirty="0" err="1"/>
              <a:t>You</a:t>
            </a:r>
            <a:r>
              <a:rPr lang="it-IT" sz="2300" dirty="0"/>
              <a:t>” di Adele: </a:t>
            </a:r>
            <a:r>
              <a:rPr lang="it-IT" sz="2300" dirty="0" smtClean="0"/>
              <a:t>Confidenza</a:t>
            </a:r>
            <a:r>
              <a:rPr lang="it-IT" sz="2300" dirty="0"/>
              <a:t>: 94.32%</a:t>
            </a:r>
            <a:endParaRPr lang="it-IT" sz="2300" dirty="0" smtClean="0"/>
          </a:p>
          <a:p>
            <a:pPr lvl="0"/>
            <a:r>
              <a:rPr lang="it-IT" sz="2300" dirty="0" smtClean="0"/>
              <a:t>“</a:t>
            </a:r>
            <a:r>
              <a:rPr lang="it-IT" sz="2300" dirty="0" err="1"/>
              <a:t>Thunderstruck</a:t>
            </a:r>
            <a:r>
              <a:rPr lang="it-IT" sz="2300" dirty="0"/>
              <a:t>” degli AC/DC: Confidenza: 32.87%</a:t>
            </a: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93" y="589910"/>
            <a:ext cx="5207382" cy="20829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Segnaposto immagine 8"/>
          <p:cNvSpPr>
            <a:spLocks noGrp="1"/>
          </p:cNvSpPr>
          <p:nvPr>
            <p:ph type="pic" idx="1"/>
          </p:nvPr>
        </p:nvSpPr>
        <p:spPr>
          <a:xfrm>
            <a:off x="644000" y="658514"/>
            <a:ext cx="11290859" cy="3557252"/>
          </a:xfrm>
        </p:spPr>
      </p:sp>
      <p:pic>
        <p:nvPicPr>
          <p:cNvPr id="10" name="Immagin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640" y="589910"/>
            <a:ext cx="5207382" cy="20829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465" y="2893805"/>
            <a:ext cx="5207382" cy="20829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7380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47818" y="5100247"/>
            <a:ext cx="11029616" cy="566738"/>
          </a:xfrm>
        </p:spPr>
        <p:txBody>
          <a:bodyPr/>
          <a:lstStyle/>
          <a:p>
            <a:r>
              <a:rPr lang="it-IT" dirty="0"/>
              <a:t>Analisi diagnostica degli </a:t>
            </a:r>
            <a:r>
              <a:rPr lang="it-IT" dirty="0" smtClean="0"/>
              <a:t>errori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47817" y="6121774"/>
            <a:ext cx="11029617" cy="598671"/>
          </a:xfrm>
        </p:spPr>
        <p:txBody>
          <a:bodyPr/>
          <a:lstStyle/>
          <a:p>
            <a:endParaRPr lang="it-IT" dirty="0"/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97" y="1009839"/>
            <a:ext cx="8582025" cy="37147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Segnaposto immagine 13"/>
          <p:cNvSpPr>
            <a:spLocks noGrp="1"/>
          </p:cNvSpPr>
          <p:nvPr>
            <p:ph type="pic" idx="1"/>
          </p:nvPr>
        </p:nvSpPr>
        <p:spPr>
          <a:xfrm>
            <a:off x="447817" y="475919"/>
            <a:ext cx="11290859" cy="3557252"/>
          </a:xfrm>
        </p:spPr>
      </p:sp>
    </p:spTree>
    <p:extLst>
      <p:ext uri="{BB962C8B-B14F-4D97-AF65-F5344CB8AC3E}">
        <p14:creationId xmlns:p14="http://schemas.microsoft.com/office/powerpoint/2010/main" val="381996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Sviluppi futuri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it-IT" dirty="0"/>
              <a:t>I</a:t>
            </a:r>
            <a:r>
              <a:rPr lang="it-IT" dirty="0" smtClean="0"/>
              <a:t>ntegrazione </a:t>
            </a:r>
            <a:r>
              <a:rPr lang="it-IT" dirty="0"/>
              <a:t>di tecniche di </a:t>
            </a:r>
            <a:r>
              <a:rPr lang="it-IT" b="1" dirty="0"/>
              <a:t>data </a:t>
            </a:r>
            <a:r>
              <a:rPr lang="it-IT" b="1" dirty="0" err="1"/>
              <a:t>augmentation</a:t>
            </a:r>
            <a:r>
              <a:rPr lang="it-IT" b="1" dirty="0"/>
              <a:t> </a:t>
            </a:r>
            <a:r>
              <a:rPr lang="it-IT" dirty="0"/>
              <a:t>specifiche per il segnale </a:t>
            </a:r>
            <a:r>
              <a:rPr lang="it-IT" dirty="0" smtClean="0"/>
              <a:t>audio.</a:t>
            </a:r>
          </a:p>
          <a:p>
            <a:pPr lvl="0" algn="just"/>
            <a:endParaRPr lang="it-IT" dirty="0"/>
          </a:p>
          <a:p>
            <a:pPr lvl="0" algn="just"/>
            <a:r>
              <a:rPr lang="it-IT" dirty="0"/>
              <a:t>A</a:t>
            </a:r>
            <a:r>
              <a:rPr lang="it-IT" dirty="0" smtClean="0"/>
              <a:t>dozione </a:t>
            </a:r>
            <a:r>
              <a:rPr lang="it-IT" dirty="0"/>
              <a:t>di </a:t>
            </a:r>
            <a:r>
              <a:rPr lang="it-IT" b="1" dirty="0"/>
              <a:t>strategie di riequilibrio delle classi </a:t>
            </a:r>
            <a:r>
              <a:rPr lang="it-IT" dirty="0"/>
              <a:t>per ridurre l’impatto di </a:t>
            </a:r>
            <a:r>
              <a:rPr lang="it-IT" dirty="0" err="1"/>
              <a:t>dataset</a:t>
            </a:r>
            <a:r>
              <a:rPr lang="it-IT" dirty="0"/>
              <a:t> </a:t>
            </a:r>
            <a:r>
              <a:rPr lang="it-IT" dirty="0" smtClean="0"/>
              <a:t>sbilanciati.</a:t>
            </a:r>
          </a:p>
          <a:p>
            <a:pPr lvl="0" algn="just"/>
            <a:endParaRPr lang="it-IT" dirty="0"/>
          </a:p>
          <a:p>
            <a:pPr lvl="0" algn="just"/>
            <a:r>
              <a:rPr lang="it-IT" dirty="0"/>
              <a:t>S</a:t>
            </a:r>
            <a:r>
              <a:rPr lang="it-IT" dirty="0" smtClean="0"/>
              <a:t>viluppo </a:t>
            </a:r>
            <a:r>
              <a:rPr lang="it-IT" dirty="0"/>
              <a:t>di </a:t>
            </a:r>
            <a:r>
              <a:rPr lang="it-IT" b="1" dirty="0"/>
              <a:t>architetture ibride</a:t>
            </a:r>
            <a:r>
              <a:rPr lang="it-IT" dirty="0"/>
              <a:t>, come </a:t>
            </a:r>
            <a:r>
              <a:rPr lang="it-IT" dirty="0" smtClean="0"/>
              <a:t>CNN-LSTM </a:t>
            </a:r>
            <a:r>
              <a:rPr lang="it-IT" dirty="0"/>
              <a:t>o modelli basati su Transformer, in grado di modellare in modo più efficace le dipendenze temporali e dinamiche del segnale musicale.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618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it-IT">
                <a:solidFill>
                  <a:srgbClr val="FFFFFF"/>
                </a:solidFill>
              </a:rPr>
              <a:t>Grazie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it-IT" dirty="0">
              <a:solidFill>
                <a:schemeClr val="bg2"/>
              </a:solidFill>
            </a:endParaRPr>
          </a:p>
          <a:p>
            <a:pPr rtl="0"/>
            <a:endParaRPr lang="it-IT" dirty="0">
              <a:solidFill>
                <a:schemeClr val="bg2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16c05727-aa75-4e4a-9b5f-8a80a1165891"/>
    <ds:schemaRef ds:uri="http://schemas.openxmlformats.org/package/2006/metadata/core-properties"/>
    <ds:schemaRef ds:uri="71af3243-3dd4-4a8d-8c0d-dd76da1f02a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Progettazione Dividendo per la tecnologia</Template>
  <TotalTime>0</TotalTime>
  <Words>859</Words>
  <Application>Microsoft Office PowerPoint</Application>
  <PresentationFormat>Widescreen</PresentationFormat>
  <Paragraphs>76</Paragraphs>
  <Slides>13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Wingdings 2</vt:lpstr>
      <vt:lpstr>Dividendo</vt:lpstr>
      <vt:lpstr>MUSIC EMOTION RECOGNITION</vt:lpstr>
      <vt:lpstr>introduzione</vt:lpstr>
      <vt:lpstr>DATASET e modello di russell</vt:lpstr>
      <vt:lpstr>LIMITI DEL DATASET</vt:lpstr>
      <vt:lpstr>STRATEGIA DI PREPROCESSING</vt:lpstr>
      <vt:lpstr>ARCHITETTURE A CONFRONTO</vt:lpstr>
      <vt:lpstr>Risultati e prestazioni</vt:lpstr>
      <vt:lpstr>Estensioni sperimentali</vt:lpstr>
      <vt:lpstr>Visualizzazione interattiva</vt:lpstr>
      <vt:lpstr>Integrazione API YouTube</vt:lpstr>
      <vt:lpstr>Analisi diagnostica degli errori</vt:lpstr>
      <vt:lpstr>Sviluppi futuri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2026-01-23T20:25:11Z</dcterms:created>
  <dcterms:modified xsi:type="dcterms:W3CDTF">2026-01-26T12:41:10Z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